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Medium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Poppins" panose="020B0502040204020203" pitchFamily="2" charset="0"/>
      <p:regular r:id="rId23"/>
      <p:bold r:id="rId24"/>
      <p:italic r:id="rId25"/>
      <p:boldItalic r:id="rId26"/>
    </p:embeddedFont>
    <p:embeddedFont>
      <p:font typeface="Poppins ExtraBold" panose="020B0502040204020203" pitchFamily="2" charset="0"/>
      <p:bold r:id="rId27"/>
      <p:boldItalic r:id="rId28"/>
    </p:embeddedFont>
    <p:embeddedFont>
      <p:font typeface="Poppins SemiBold" panose="020B0502040204020203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2335F7-6BE8-405F-8058-CF2227948FE8}">
  <a:tblStyle styleId="{A62335F7-6BE8-405F-8058-CF2227948F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58" y="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-476250" y="0"/>
            <a:ext cx="12668250" cy="7334250"/>
            <a:chOff x="-476250" y="0"/>
            <a:chExt cx="12668250" cy="7334250"/>
          </a:xfrm>
        </p:grpSpPr>
        <p:sp>
          <p:nvSpPr>
            <p:cNvPr id="86" name="Google Shape;86;p13"/>
            <p:cNvSpPr/>
            <p:nvPr/>
          </p:nvSpPr>
          <p:spPr>
            <a:xfrm>
              <a:off x="10287000" y="0"/>
              <a:ext cx="1905000" cy="1905000"/>
            </a:xfrm>
            <a:prstGeom prst="ellipse">
              <a:avLst/>
            </a:prstGeom>
            <a:solidFill>
              <a:srgbClr val="1E3A8A">
                <a:alpha val="2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-476250" y="4476750"/>
              <a:ext cx="2857500" cy="2857500"/>
            </a:xfrm>
            <a:prstGeom prst="ellipse">
              <a:avLst/>
            </a:prstGeom>
            <a:solidFill>
              <a:srgbClr val="1E3A8A">
                <a:alpha val="1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1714500"/>
            <a:ext cx="109728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dirty="0">
                <a:solidFill>
                  <a:srgbClr val="1E3A8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Predictive Modeling of Student Academic Performance Using Machine Learning</a:t>
            </a:r>
            <a:endParaRPr sz="5400" b="0" dirty="0">
              <a:solidFill>
                <a:srgbClr val="1E3A8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1809750" y="4948843"/>
            <a:ext cx="8572500" cy="762000"/>
            <a:chOff x="0" y="0"/>
            <a:chExt cx="8572500" cy="762000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8572500" cy="762000"/>
            </a:xfrm>
            <a:prstGeom prst="roundRect">
              <a:avLst>
                <a:gd name="adj" fmla="val 5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13"/>
            <p:cNvGrpSpPr/>
            <p:nvPr/>
          </p:nvGrpSpPr>
          <p:grpSpPr>
            <a:xfrm>
              <a:off x="571500" y="190500"/>
              <a:ext cx="2286000" cy="416052"/>
              <a:chOff x="0" y="0"/>
              <a:chExt cx="2286000" cy="416052"/>
            </a:xfrm>
          </p:grpSpPr>
          <p:sp>
            <p:nvSpPr>
              <p:cNvPr id="93" name="Google Shape;93;p13"/>
              <p:cNvSpPr txBox="1"/>
              <p:nvPr/>
            </p:nvSpPr>
            <p:spPr>
              <a:xfrm>
                <a:off x="0" y="35052"/>
                <a:ext cx="285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38100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Ansh Gautam</a:t>
                </a:r>
                <a:endParaRPr sz="18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3238500" y="190500"/>
              <a:ext cx="1809900" cy="416052"/>
              <a:chOff x="0" y="0"/>
              <a:chExt cx="1809900" cy="416052"/>
            </a:xfrm>
          </p:grpSpPr>
          <p:sp>
            <p:nvSpPr>
              <p:cNvPr id="96" name="Google Shape;96;p13"/>
              <p:cNvSpPr txBox="1"/>
              <p:nvPr/>
            </p:nvSpPr>
            <p:spPr>
              <a:xfrm>
                <a:off x="0" y="35052"/>
                <a:ext cx="285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38100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JSSATEN</a:t>
                </a:r>
                <a:endParaRPr sz="18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98" name="Google Shape;98;p13"/>
            <p:cNvGrpSpPr/>
            <p:nvPr/>
          </p:nvGrpSpPr>
          <p:grpSpPr>
            <a:xfrm>
              <a:off x="5905500" y="190500"/>
              <a:ext cx="2095500" cy="416052"/>
              <a:chOff x="0" y="0"/>
              <a:chExt cx="2095500" cy="416052"/>
            </a:xfrm>
          </p:grpSpPr>
          <p:sp>
            <p:nvSpPr>
              <p:cNvPr id="99" name="Google Shape;99;p13"/>
              <p:cNvSpPr txBox="1"/>
              <p:nvPr/>
            </p:nvSpPr>
            <p:spPr>
              <a:xfrm>
                <a:off x="0" y="35052"/>
                <a:ext cx="285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381000" y="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20/06/2026</a:t>
                </a:r>
                <a:endParaRPr sz="18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pic>
        <p:nvPicPr>
          <p:cNvPr id="3" name="Graphic 2" descr="School boy outline">
            <a:extLst>
              <a:ext uri="{FF2B5EF4-FFF2-40B4-BE49-F238E27FC236}">
                <a16:creationId xmlns:a16="http://schemas.microsoft.com/office/drawing/2014/main" id="{2E2E5375-0E9E-B963-604E-E21F69587B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2192" y="4987630"/>
            <a:ext cx="674023" cy="674023"/>
          </a:xfrm>
          <a:prstGeom prst="rect">
            <a:avLst/>
          </a:prstGeom>
        </p:spPr>
      </p:pic>
      <p:pic>
        <p:nvPicPr>
          <p:cNvPr id="5" name="Graphic 4" descr="Schoolhouse with solid fill">
            <a:extLst>
              <a:ext uri="{FF2B5EF4-FFF2-40B4-BE49-F238E27FC236}">
                <a16:creationId xmlns:a16="http://schemas.microsoft.com/office/drawing/2014/main" id="{FB8C78C6-D68F-5277-ECD3-3C21734CE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0245" y="4971024"/>
            <a:ext cx="699655" cy="699655"/>
          </a:xfrm>
          <a:prstGeom prst="rect">
            <a:avLst/>
          </a:prstGeom>
        </p:spPr>
      </p:pic>
      <p:pic>
        <p:nvPicPr>
          <p:cNvPr id="7" name="Graphic 6" descr="Flip calendar with solid fill">
            <a:extLst>
              <a:ext uri="{FF2B5EF4-FFF2-40B4-BE49-F238E27FC236}">
                <a16:creationId xmlns:a16="http://schemas.microsoft.com/office/drawing/2014/main" id="{DE3ECA9E-A79A-2F5A-0703-B774EA739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2007" y="4962706"/>
            <a:ext cx="716280" cy="716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96330"/>
            <a:ext cx="52387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00125" y="2667892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Predict student final grades (G3).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00125" y="3248917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Proactively identify at-risk students.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00125" y="4172842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student-por.csv (Education Analytics).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605855"/>
            <a:ext cx="521970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012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2822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20618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71500" y="571500"/>
            <a:ext cx="116014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0230"/>
            <a:ext cx="3492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20230"/>
            <a:ext cx="3492549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20230"/>
            <a:ext cx="3492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72830"/>
            <a:ext cx="3492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49650" y="4072830"/>
            <a:ext cx="3492549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7950" y="4072830"/>
            <a:ext cx="3492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89100" y="21106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67251" y="21106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45550" y="21106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089100" y="38632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867251" y="38632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645550" y="38632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108150" y="267265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922412" y="3234630"/>
            <a:ext cx="790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86301" y="267265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357663" y="3234630"/>
            <a:ext cx="14763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Preprocessing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612213" y="2672655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8854975" y="3234630"/>
            <a:ext cx="20383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Engineering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108150" y="442525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541412" y="4987230"/>
            <a:ext cx="1552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Train-Test Split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886301" y="442525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5333851" y="4987230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 Training</a:t>
            </a:r>
            <a:endParaRPr/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9664600" y="442525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9345513" y="4987230"/>
            <a:ext cx="10572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Evaluation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571500"/>
            <a:ext cx="116014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Machine Learning Workflow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7884"/>
            <a:ext cx="2476500" cy="185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3750" y="1887884"/>
            <a:ext cx="2476500" cy="185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5205"/>
            <a:ext cx="2476500" cy="185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3750" y="4025205"/>
            <a:ext cx="2476500" cy="185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596330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183159"/>
            <a:ext cx="1952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57250" y="2621309"/>
            <a:ext cx="2050256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649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57250" y="3196530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Records</a:t>
            </a:r>
            <a:endParaRPr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19500" y="2183159"/>
            <a:ext cx="1952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3619500" y="2621309"/>
            <a:ext cx="2050256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33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619500" y="3196530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Features</a:t>
            </a:r>
            <a:endParaRPr/>
          </a:p>
        </p:txBody>
      </p:sp>
      <p:pic>
        <p:nvPicPr>
          <p:cNvPr id="161" name="Google Shape;16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4320480"/>
            <a:ext cx="1952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857250" y="4758630"/>
            <a:ext cx="2050256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One-Hot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57250" y="5333851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Encoding</a:t>
            </a:r>
            <a:endParaRPr/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9500" y="4320480"/>
            <a:ext cx="1952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3619500" y="4758630"/>
            <a:ext cx="2050256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80:20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3619500" y="5333851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Train:Test</a:t>
            </a:r>
            <a:endParaRPr/>
          </a:p>
        </p:txBody>
      </p:sp>
      <p:pic>
        <p:nvPicPr>
          <p:cNvPr id="167" name="Google Shape;16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91275" y="1605855"/>
            <a:ext cx="521970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571500" y="571500"/>
            <a:ext cx="116014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Preparation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9777"/>
            <a:ext cx="3429000" cy="3225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69777"/>
            <a:ext cx="3429000" cy="3225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69777"/>
            <a:ext cx="3429000" cy="3225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57375" y="282222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995838" y="3869977"/>
            <a:ext cx="258032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Linear Regression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66775" y="4380458"/>
            <a:ext cx="2838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linear feature relationships.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67375" y="282222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5120878" y="3869977"/>
            <a:ext cx="195024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Decision Tree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4676775" y="4380458"/>
            <a:ext cx="2838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Splits data via feature thresholds.</a:t>
            </a:r>
            <a:endParaRPr/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77375" y="282222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8790860" y="3869977"/>
            <a:ext cx="223027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486775" y="4380458"/>
            <a:ext cx="2838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Ensemble method minimizing variance.</a:t>
            </a:r>
            <a:endParaRPr/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95500" y="306035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57875" y="306035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39312" y="30603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571500"/>
            <a:ext cx="116014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 Development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/>
          <p:nvPr/>
        </p:nvSpPr>
        <p:spPr>
          <a:xfrm>
            <a:off x="571500" y="2344042"/>
            <a:ext cx="110490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18"/>
          <p:cNvGraphicFramePr/>
          <p:nvPr>
            <p:extLst>
              <p:ext uri="{D42A27DB-BD31-4B8C-83A1-F6EECF244321}">
                <p14:modId xmlns:p14="http://schemas.microsoft.com/office/powerpoint/2010/main" val="1238808514"/>
              </p:ext>
            </p:extLst>
          </p:nvPr>
        </p:nvGraphicFramePr>
        <p:xfrm>
          <a:off x="340823" y="1399309"/>
          <a:ext cx="11356657" cy="5043300"/>
        </p:xfrm>
        <a:graphic>
          <a:graphicData uri="http://schemas.openxmlformats.org/drawingml/2006/table">
            <a:tbl>
              <a:tblPr firstRow="1" bandRow="1">
                <a:noFill/>
                <a:tableStyleId>{A62335F7-6BE8-405F-8058-CF2227948FE8}</a:tableStyleId>
              </a:tblPr>
              <a:tblGrid>
                <a:gridCol w="4667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8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Model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MAE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RMSE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          R</a:t>
                      </a: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         </a:t>
                      </a: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          2</a:t>
                      </a: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         </a:t>
                      </a: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b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</a:br>
                      <a:r>
                        <a:rPr lang="en-US" sz="1650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Score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3A8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Linear Regression</a:t>
                      </a:r>
                      <a:endParaRPr/>
                    </a:p>
                  </a:txBody>
                  <a:tcPr marL="4667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3A8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0.7651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3A8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1.2149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E3A8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0.8487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/>
                    </a:p>
                  </a:txBody>
                  <a:tcPr marL="4381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0.9231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1.6502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0.7208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/>
                    </a:p>
                  </a:txBody>
                  <a:tcPr marL="4667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0.7461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1.2409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0.8421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7" name="Google Shape;19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9829" y="3543746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456" y="590327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94397" y="3543746"/>
            <a:ext cx="252412" cy="191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85500" y="3429892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2675" y="3543746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457" y="4199165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571500" y="571500"/>
            <a:ext cx="116014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 &amp; Performance</a:t>
            </a:r>
            <a:endParaRPr/>
          </a:p>
        </p:txBody>
      </p:sp>
      <p:pic>
        <p:nvPicPr>
          <p:cNvPr id="3" name="Google Shape;198;p18" descr="image.png">
            <a:extLst>
              <a:ext uri="{FF2B5EF4-FFF2-40B4-BE49-F238E27FC236}">
                <a16:creationId xmlns:a16="http://schemas.microsoft.com/office/drawing/2014/main" id="{136ADFE9-8206-BC0B-FD3D-B63671720B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752" y="5098846"/>
            <a:ext cx="2381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0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1000125" y="2958405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Linear Regression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achieved the highest Score (0.8487).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000125" y="3882330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Previous academic indicators strongly drive final grade predictions.</a:t>
            </a:r>
            <a:endParaRPr/>
          </a:p>
        </p:txBody>
      </p:sp>
      <p:pic>
        <p:nvPicPr>
          <p:cNvPr id="215" name="Google Shape;21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1625" y="2996356"/>
            <a:ext cx="271760" cy="20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9174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1566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571500" y="571500"/>
            <a:ext cx="116014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Model Comparison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609C3-161D-D5CC-3BD9-59C5A75E7D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98" r="7276"/>
          <a:stretch>
            <a:fillRect/>
          </a:stretch>
        </p:blipFill>
        <p:spPr>
          <a:xfrm>
            <a:off x="7103226" y="505961"/>
            <a:ext cx="4409901" cy="31382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D11820-37DD-EE8B-AD45-17CE51E10C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3407" y="3540165"/>
            <a:ext cx="4810125" cy="3283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1573"/>
            <a:ext cx="5286375" cy="3541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11573"/>
            <a:ext cx="5286375" cy="354136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1390650" y="2597348"/>
            <a:ext cx="4280535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191375" y="2597348"/>
            <a:ext cx="4240530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/>
          </a:p>
        </p:txBody>
      </p:sp>
      <p:pic>
        <p:nvPicPr>
          <p:cNvPr id="228" name="Google Shape;22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29644"/>
            <a:ext cx="2857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1390650" y="3319313"/>
            <a:ext cx="4076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ML accurately predicts academic performance.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1390650" y="4243238"/>
            <a:ext cx="4076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Enables proactive, data-driven student interventions.</a:t>
            </a:r>
            <a:endParaRPr/>
          </a:p>
        </p:txBody>
      </p:sp>
      <p:pic>
        <p:nvPicPr>
          <p:cNvPr id="231" name="Google Shape;23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629644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7153275" y="3319313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Prediction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7153275" y="3900338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Early Intervention Systems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7153275" y="4481363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Advanced ML Models</a:t>
            </a:r>
            <a:endParaRPr/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352651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27657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3352651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393367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4514701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571500" y="571500"/>
            <a:ext cx="116014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&amp; Future Scope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Inter</vt:lpstr>
      <vt:lpstr>Inter SemiBold</vt:lpstr>
      <vt:lpstr>Arial</vt:lpstr>
      <vt:lpstr>Poppins</vt:lpstr>
      <vt:lpstr>Poppins ExtraBold</vt:lpstr>
      <vt:lpstr>Poppins SemiBold</vt:lpstr>
      <vt:lpstr>Calibri</vt:lpstr>
      <vt:lpstr>Material Icons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Ayush Gautam</cp:lastModifiedBy>
  <cp:revision>1</cp:revision>
  <dcterms:modified xsi:type="dcterms:W3CDTF">2026-06-15T18:16:57Z</dcterms:modified>
</cp:coreProperties>
</file>